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1EFEA"/>
                </a:solidFill>
                <a:latin typeface="Aptos"/>
              </a:defRPr>
            </a:pPr>
            <a:r>
              <a:t>ATOM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965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0">
                <a:solidFill>
                  <a:srgbClr val="8FA697"/>
                </a:solidFill>
                <a:latin typeface="Aptos"/>
              </a:defRPr>
            </a:pPr>
            <a:r>
              <a:t>Philosophie d’interface &amp; comportement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1EFEA"/>
                </a:solidFill>
                <a:latin typeface="Aptos"/>
              </a:defRPr>
            </a:pPr>
            <a:r>
              <a:t>Une interface qui disparaît quand on agit,</a:t>
            </a:r>
            <a:br/>
            <a:r>
              <a:t>mais reste prévisible quand on en a besoin.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436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4A6A6"/>
                </a:solidFill>
                <a:latin typeface="Aptos"/>
              </a:defRPr>
            </a:pPr>
            <a:r>
              <a:t>Base de cahier des charges — décisions validées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Architecture cognitive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Quatre états simples plutôt qu’une interface toujours chargée.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423160" cy="356616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FA697"/>
                </a:solidFill>
                <a:latin typeface="Aptos"/>
              </a:defRPr>
            </a:pPr>
            <a:r>
              <a:t>REPOS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EFEA"/>
                </a:solidFill>
                <a:latin typeface="Aptos"/>
              </a:defRPr>
            </a:pPr>
            <a:r>
              <a:t>presque rien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2057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contenu prioritaire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508760"/>
            <a:ext cx="2423160" cy="356616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78308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7FA4A5"/>
                </a:solidFill>
                <a:latin typeface="Aptos"/>
              </a:defRPr>
            </a:pPr>
            <a:r>
              <a:t>INTENTION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24028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EFEA"/>
                </a:solidFill>
                <a:latin typeface="Aptos"/>
              </a:defRPr>
            </a:pPr>
            <a:r>
              <a:t>Flower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71800"/>
            <a:ext cx="2057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choix rapide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08760"/>
            <a:ext cx="2423160" cy="356616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8308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D09E89"/>
                </a:solidFill>
                <a:latin typeface="Aptos"/>
              </a:defRPr>
            </a:pPr>
            <a:r>
              <a:t>ATELIER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8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EFEA"/>
                </a:solidFill>
                <a:latin typeface="Aptos"/>
              </a:defRPr>
            </a:pPr>
            <a:r>
              <a:t>L stable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2057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outils persistants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508760"/>
            <a:ext cx="2423160" cy="356616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78308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FA697"/>
                </a:solidFill>
                <a:latin typeface="Aptos"/>
              </a:defRPr>
            </a:pPr>
            <a:r>
              <a:t>MANIPULATION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24028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1EFEA"/>
                </a:solidFill>
                <a:latin typeface="Aptos"/>
              </a:defRPr>
            </a:pPr>
            <a:r>
              <a:t>effacement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971800"/>
            <a:ext cx="2057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silence visuel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09E89"/>
                </a:solidFill>
                <a:latin typeface="Aptos"/>
              </a:defRPr>
            </a:pPr>
            <a:r>
              <a:t>La stabilité spatiale est non négociable.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Dashboard = foyer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Première utilisation : jamais un écran vide.</a:t>
            </a:r>
          </a:p>
        </p:txBody>
      </p:sp>
      <p:pic>
        <p:nvPicPr>
          <p:cNvPr id="4" name="Picture 3" descr="dashboard pay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29798"/>
            <a:ext cx="7040880" cy="32384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9560" y="1508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8FA697"/>
                </a:solidFill>
                <a:latin typeface="Aptos"/>
              </a:defRPr>
            </a:pPr>
            <a:r>
              <a:t>Point de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2103120"/>
            <a:ext cx="32918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1EFEA"/>
                </a:solidFill>
                <a:latin typeface="Aptos"/>
              </a:defRPr>
            </a:pPr>
            <a:r>
              <a:t>News / Messages</a:t>
            </a:r>
            <a:br/>
            <a:r>
              <a:t>Calendrier</a:t>
            </a:r>
            <a:br/>
            <a:r>
              <a:t>Projets</a:t>
            </a:r>
            <a:br/>
            <a:r>
              <a:t>Contacts</a:t>
            </a:r>
            <a:br/>
            <a:r>
              <a:t>Monitoring</a:t>
            </a:r>
            <a:br/>
            <a:r>
              <a:t>Heure + informations utiles</a:t>
            </a:r>
            <a:br/>
            <a:br/>
            <a:r>
              <a:t>Le dashboard est le « chez soi » d’Atom.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Même monde, toutes tailles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La disposition s’adapte ; la grammaire reste identique.</a:t>
            </a:r>
          </a:p>
        </p:txBody>
      </p:sp>
      <p:pic>
        <p:nvPicPr>
          <p:cNvPr id="4" name="Picture 3" descr="dashboard 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37" y="1280160"/>
            <a:ext cx="2229085" cy="4846320"/>
          </a:xfrm>
          <a:prstGeom prst="rect">
            <a:avLst/>
          </a:prstGeom>
        </p:spPr>
      </p:pic>
      <p:pic>
        <p:nvPicPr>
          <p:cNvPr id="5" name="Picture 4" descr="ipad dash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443422"/>
            <a:ext cx="3657600" cy="2519795"/>
          </a:xfrm>
          <a:prstGeom prst="rect">
            <a:avLst/>
          </a:prstGeom>
        </p:spPr>
      </p:pic>
      <p:pic>
        <p:nvPicPr>
          <p:cNvPr id="6" name="Picture 5" descr="dashboard pay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914728"/>
            <a:ext cx="3429000" cy="15771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17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4A6A6"/>
                </a:solidFill>
                <a:latin typeface="Aptos"/>
              </a:defRPr>
            </a:pPr>
            <a:r>
              <a:t>Portrait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4A6A6"/>
                </a:solidFill>
                <a:latin typeface="Aptos"/>
              </a:defRPr>
            </a:pPr>
            <a:r>
              <a:t>Tablette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217920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4A6A6"/>
                </a:solidFill>
                <a:latin typeface="Aptos"/>
              </a:defRPr>
            </a:pPr>
            <a:r>
              <a:t>Paysage / desktop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Flower = menu d’intention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Appui long : il choisit une direction, il ne liste pas toutes les commandes.</a:t>
            </a:r>
          </a:p>
        </p:txBody>
      </p:sp>
      <p:pic>
        <p:nvPicPr>
          <p:cNvPr id="4" name="Picture 3" descr="menu fl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422375"/>
            <a:ext cx="5669280" cy="26076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58200" y="3200400"/>
            <a:ext cx="914400" cy="91440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ATOM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19"/>
            <a:ext cx="1188720" cy="64008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1EFEA"/>
                </a:solidFill>
                <a:latin typeface="Aptos"/>
              </a:defRPr>
            </a:pPr>
            <a:r>
              <a:t>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743200"/>
            <a:ext cx="1188720" cy="64008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1EFEA"/>
                </a:solidFill>
                <a:latin typeface="Aptos"/>
              </a:defRPr>
            </a:pPr>
            <a:r>
              <a:t>Créer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977640"/>
            <a:ext cx="1188720" cy="64008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1EFEA"/>
                </a:solidFill>
                <a:latin typeface="Aptos"/>
              </a:defRPr>
            </a:pPr>
            <a:r>
              <a:t>Communiquer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2743200"/>
            <a:ext cx="1188720" cy="64008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1EFEA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3977640"/>
            <a:ext cx="1188720" cy="64008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1EFEA"/>
                </a:solidFill>
                <a:latin typeface="Aptos"/>
              </a:defRPr>
            </a:pPr>
            <a:r>
              <a:t>Contexte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5029200"/>
            <a:ext cx="1188720" cy="64008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1EFE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9893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4A6A6"/>
                </a:solidFill>
                <a:latin typeface="Aptos"/>
              </a:defRPr>
            </a:pPr>
            <a:r>
              <a:t>Icônes = découverte • gestes = vitesse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Novice → expert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Une seule interface ; le chemin se raccourcit avec l’apprentissage.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3246120" cy="347472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8FA697"/>
                </a:solidFill>
                <a:latin typeface="Aptos"/>
              </a:defRPr>
            </a:pPr>
            <a:r>
              <a:t>NOVICE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2788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1EFEA"/>
                </a:solidFill>
                <a:latin typeface="Aptos"/>
              </a:defRPr>
            </a:pPr>
            <a:r>
              <a:t>voit</a:t>
            </a:r>
            <a:br/>
            <a:r>
              <a:t>clique</a:t>
            </a:r>
            <a:br/>
            <a:r>
              <a:t>est guidé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691640"/>
            <a:ext cx="3246120" cy="347472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01168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7FA4A5"/>
                </a:solidFill>
                <a:latin typeface="Aptos"/>
              </a:defRPr>
            </a:pPr>
            <a:r>
              <a:t>HABITUÉ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743200"/>
            <a:ext cx="2788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1EFEA"/>
                </a:solidFill>
                <a:latin typeface="Aptos"/>
              </a:defRPr>
            </a:pPr>
            <a:r>
              <a:t>mémorise</a:t>
            </a:r>
            <a:br/>
            <a:r>
              <a:t>les positions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91640"/>
            <a:ext cx="3246120" cy="347472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01168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09E89"/>
                </a:solidFill>
                <a:latin typeface="Aptos"/>
              </a:defRPr>
            </a:pPr>
            <a:r>
              <a:t>EXPERT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743200"/>
            <a:ext cx="2788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1EFEA"/>
                </a:solidFill>
                <a:latin typeface="Aptos"/>
              </a:defRPr>
            </a:pPr>
            <a:r>
              <a:t>appui + geste</a:t>
            </a:r>
            <a:br/>
            <a:r>
              <a:t>sans regarder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A4A6A6"/>
                </a:solidFill>
                <a:latin typeface="Aptos"/>
              </a:defRPr>
            </a:pPr>
            <a:r>
              <a:t>Le Flower peut être signalé au départ, puis devenir une zone apprise et presque invisible.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Assistant / Guide = copilote persistant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Bas droite pour droitier ; miroir pour gaucher. Jamais au centre.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7132320" cy="484632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CANEVAS /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4160520"/>
            <a:ext cx="1828800" cy="64008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1EFEA"/>
                </a:solidFill>
                <a:latin typeface="Aptos"/>
              </a:defRPr>
            </a:pPr>
            <a:r>
              <a:t>eVe  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4983480"/>
            <a:ext cx="3429000" cy="594360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1EFEA"/>
                </a:solidFill>
                <a:latin typeface="Aptos"/>
              </a:defRPr>
            </a:pPr>
            <a:r>
              <a:t>Qu’est-ce que tu veux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5087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1EFEA"/>
                </a:solidFill>
                <a:latin typeface="Aptos"/>
              </a:defRPr>
            </a:pPr>
            <a:r>
              <a:t>Comportement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03120"/>
            <a:ext cx="32461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A4A6A6"/>
                </a:solidFill>
                <a:latin typeface="Aptos"/>
              </a:defRPr>
            </a:pPr>
            <a:r>
              <a:t>• parle dès l’invocation</a:t>
            </a:r>
            <a:br/>
            <a:r>
              <a:t>• reste présent pour plusieurs actions</a:t>
            </a:r>
            <a:br/>
            <a:r>
              <a:t>• saisie texte au-dessus</a:t>
            </a:r>
            <a:br/>
            <a:r>
              <a:t>• réponse vocale activable / muette</a:t>
            </a:r>
            <a:br/>
            <a:r>
              <a:t>• occupe la zone système réservée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Sans IA, le guidage reste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L’IA augmente la puissance ; elle ne doit jamais être la 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246120" cy="251460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EFEA"/>
                </a:solidFill>
                <a:latin typeface="Aptos"/>
              </a:defRPr>
            </a:pPr>
            <a:r>
              <a:t>IA disponible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2788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A4A6A6"/>
                </a:solidFill>
                <a:latin typeface="Aptos"/>
              </a:defRPr>
            </a:pPr>
            <a:r>
              <a:t>conversation</a:t>
            </a:r>
            <a:br/>
            <a:r>
              <a:t>+ actions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3063240"/>
            <a:ext cx="32004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828800"/>
            <a:ext cx="3246120" cy="251460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4884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EFEA"/>
                </a:solidFill>
                <a:latin typeface="Aptos"/>
              </a:defRPr>
            </a:pPr>
            <a:r>
              <a:t>IA indisponible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2788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A4A6A6"/>
                </a:solidFill>
                <a:latin typeface="Aptos"/>
              </a:defRPr>
            </a:pPr>
            <a:r>
              <a:t>raison affichée</a:t>
            </a:r>
            <a:br/>
            <a:r>
              <a:t>explicitement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80" y="3063240"/>
            <a:ext cx="320040" cy="0"/>
          </a:xfrm>
          <a:prstGeom prst="line">
            <a:avLst/>
          </a:prstGeom>
          <a:ln w="25400">
            <a:solidFill>
              <a:srgbClr val="D09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1828800"/>
            <a:ext cx="3246120" cy="251460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14884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EFEA"/>
                </a:solidFill>
                <a:latin typeface="Aptos"/>
              </a:defRPr>
            </a:pPr>
            <a:r>
              <a:t>Guide Atom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834640"/>
            <a:ext cx="2788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A4A6A6"/>
                </a:solidFill>
                <a:latin typeface="Aptos"/>
              </a:defRPr>
            </a:pPr>
            <a:r>
              <a:t>trouver</a:t>
            </a:r>
            <a:br/>
            <a:r>
              <a:t>+ apprendre</a:t>
            </a:r>
            <a:br/>
            <a:r>
              <a:t>+ agir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EFEA"/>
                </a:solidFill>
                <a:latin typeface="Aptos"/>
              </a:defRPr>
            </a:pPr>
            <a:r>
              <a:t>Une seule zone : contenus + aide locale + commandes exécutables.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Mode Atelier = un L stable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Barre basse + barre latérale uniquement quand on travaille.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7589520" cy="489204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5230368"/>
            <a:ext cx="690372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1EFEA"/>
                </a:solidFill>
                <a:latin typeface="Aptos"/>
              </a:defRPr>
            </a:pPr>
            <a:r>
              <a:t>OUTILS D’ATELIER — stables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91640"/>
            <a:ext cx="594360" cy="324612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1EFEA"/>
                </a:solidFill>
                <a:latin typeface="Aptos"/>
              </a:defRPr>
            </a:pPr>
            <a:r>
              <a:t>C</a:t>
            </a:r>
            <a:br/>
            <a:r>
              <a:t>O</a:t>
            </a:r>
            <a:br/>
            <a:r>
              <a:t>N</a:t>
            </a:r>
            <a:br/>
            <a:r>
              <a:t>T</a:t>
            </a:r>
            <a:br/>
            <a:r>
              <a:t>E</a:t>
            </a:r>
            <a:br/>
            <a:r>
              <a:t>X</a:t>
            </a:r>
            <a:br/>
            <a:r>
              <a:t>T</a:t>
            </a:r>
            <a:br/>
            <a: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5087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8FA697"/>
                </a:solidFill>
                <a:latin typeface="Aptos"/>
              </a:defRPr>
            </a:pPr>
            <a:r>
              <a:t>Bas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9659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Grandes catégories.</a:t>
            </a:r>
            <a:br/>
            <a:r>
              <a:t>Toujours au même endroit.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31546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D09E89"/>
                </a:solidFill>
                <a:latin typeface="Aptos"/>
              </a:defRPr>
            </a:pPr>
            <a:r>
              <a:t>Côté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61188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Le contenu dépend de la cible.</a:t>
            </a:r>
            <a:br/>
            <a:r>
              <a:t>La position ne change jamais.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Le contexte change ; la géographie reste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Projet, texte, audio : même emplacement latéral, contenu adapté.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438912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1EFEA"/>
                </a:solidFill>
                <a:latin typeface="Aptos"/>
              </a:defRPr>
            </a:pPr>
            <a:r>
              <a:t>Aucune sélection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800600"/>
            <a:ext cx="2971800" cy="50292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atelier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057400"/>
            <a:ext cx="502920" cy="233172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1EFEA"/>
                </a:solidFill>
                <a:latin typeface="Aptos"/>
              </a:defRPr>
            </a:pPr>
            <a:r>
              <a:t>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438912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916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1EFEA"/>
                </a:solidFill>
                <a:latin typeface="Aptos"/>
              </a:defRPr>
            </a:pPr>
            <a:r>
              <a:t>Texte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4800600"/>
            <a:ext cx="2971800" cy="50292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atelier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057400"/>
            <a:ext cx="502920" cy="233172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1EFEA"/>
                </a:solidFill>
                <a:latin typeface="Aptos"/>
              </a:defRPr>
            </a:pPr>
            <a:r>
              <a:t>TEXTE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429000" cy="438912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6916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1EFEA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800600"/>
            <a:ext cx="2971800" cy="50292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atelier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18520" y="2057400"/>
            <a:ext cx="502920" cy="233172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1EFEA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09E89"/>
                </a:solidFill>
                <a:latin typeface="Aptos"/>
              </a:defRPr>
            </a:pPr>
            <a:r>
              <a:t>Pas de palettes flottantes autour des objets.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Manipulation directe = silence visuel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Pendant le drag, les éléments système disparaissent ; au dépôt, ils reviennent.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429768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83080" y="2331720"/>
            <a:ext cx="1143000" cy="1143000"/>
          </a:xfrm>
          <a:prstGeom prst="roundRect">
            <a:avLst/>
          </a:prstGeom>
          <a:solidFill>
            <a:srgbClr val="494B4D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OBJET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92040"/>
            <a:ext cx="2880360" cy="45720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1EFEA"/>
                </a:solidFill>
                <a:latin typeface="Aptos"/>
              </a:defRPr>
            </a:pPr>
            <a:r>
              <a:t>atelier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74519"/>
            <a:ext cx="365760" cy="260604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A4A6A6"/>
                </a:solidFill>
                <a:latin typeface="Aptos"/>
              </a:defRPr>
            </a:pPr>
            <a:r>
              <a:t>AVANT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337560" cy="429768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0" y="2331720"/>
            <a:ext cx="1143000" cy="1143000"/>
          </a:xfrm>
          <a:prstGeom prst="roundRect">
            <a:avLst/>
          </a:prstGeom>
          <a:solidFill>
            <a:srgbClr val="494B4D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OBJET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172200" y="2240280"/>
            <a:ext cx="777240" cy="68580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0" y="1691640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A4A6A6"/>
                </a:solidFill>
                <a:latin typeface="Aptos"/>
              </a:defRPr>
            </a:pPr>
            <a:r>
              <a:t>DRAG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417320"/>
            <a:ext cx="3337560" cy="429768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2331720"/>
            <a:ext cx="1143000" cy="1143000"/>
          </a:xfrm>
          <a:prstGeom prst="roundRect">
            <a:avLst/>
          </a:prstGeom>
          <a:solidFill>
            <a:srgbClr val="494B4D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OBJET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892040"/>
            <a:ext cx="2880360" cy="45720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1EFEA"/>
                </a:solidFill>
                <a:latin typeface="Aptos"/>
              </a:defRPr>
            </a:pPr>
            <a:r>
              <a:t>atelier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09960" y="1874519"/>
            <a:ext cx="365760" cy="260604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691640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A4A6A6"/>
                </a:solidFill>
                <a:latin typeface="Aptos"/>
              </a:defRPr>
            </a:pPr>
            <a:r>
              <a:t>APRÈS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Vue ≠ Travail ≠ Profil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Trois axes indépendants ; ils ne changent pas la grammaire d’Atom.</a:t>
            </a:r>
          </a:p>
        </p:txBody>
      </p:sp>
      <p:pic>
        <p:nvPicPr>
          <p:cNvPr id="4" name="Picture 3" descr="mode natur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718" y="1280160"/>
            <a:ext cx="1218842" cy="2651760"/>
          </a:xfrm>
          <a:prstGeom prst="rect">
            <a:avLst/>
          </a:prstGeom>
        </p:spPr>
      </p:pic>
      <p:pic>
        <p:nvPicPr>
          <p:cNvPr id="5" name="Picture 4" descr="mode 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775" y="1280160"/>
            <a:ext cx="1219688" cy="2651759"/>
          </a:xfrm>
          <a:prstGeom prst="rect">
            <a:avLst/>
          </a:prstGeom>
        </p:spPr>
      </p:pic>
      <p:pic>
        <p:nvPicPr>
          <p:cNvPr id="6" name="Picture 5" descr="mode mat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255" y="1280160"/>
            <a:ext cx="1219688" cy="26517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02336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EFEA"/>
                </a:solidFill>
                <a:latin typeface="Aptos"/>
              </a:defRPr>
            </a:pPr>
            <a:r>
              <a:t>Naturel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02336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EFEA"/>
                </a:solidFill>
                <a:latin typeface="Aptos"/>
              </a:defRPr>
            </a:pPr>
            <a:r>
              <a:t>Liste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02336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EFEA"/>
                </a:solidFill>
                <a:latin typeface="Aptos"/>
              </a:defRPr>
            </a:pPr>
            <a:r>
              <a:t>Matrice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8FA697"/>
                </a:solidFill>
                <a:latin typeface="Aptos"/>
              </a:defRPr>
            </a:pPr>
            <a:r>
              <a:t>VUE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75488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Naturel / Liste / Matrice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7FA4A5"/>
                </a:solidFill>
                <a:latin typeface="Aptos"/>
              </a:defRPr>
            </a:pPr>
            <a:r>
              <a:t>TRAVAIL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30352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Consultation / Édition /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D09E89"/>
                </a:solidFill>
                <a:latin typeface="Aptos"/>
              </a:defRPr>
            </a:pPr>
            <a:r>
              <a:t>PROFIL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8521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Privé / professionnel / musicien / autres contextes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Créer sans perdre l’utilisateur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Le guidage vient du contenu et des modèles, pas d’un tutoriel permanent.</a:t>
            </a:r>
          </a:p>
        </p:txBody>
      </p:sp>
      <p:pic>
        <p:nvPicPr>
          <p:cNvPr id="4" name="Picture 3" descr="home 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99" y="1234439"/>
            <a:ext cx="2313201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06440" y="1417320"/>
            <a:ext cx="5394960" cy="86868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1581912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8FA697"/>
                </a:solidFill>
                <a:latin typeface="Aptos"/>
              </a:defRPr>
            </a:pPr>
            <a:r>
              <a:t>1. Intention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581912"/>
            <a:ext cx="3703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Créer un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2560320"/>
            <a:ext cx="5394960" cy="86868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2724912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8FA697"/>
                </a:solidFill>
                <a:latin typeface="Aptos"/>
              </a:defRPr>
            </a:pPr>
            <a:r>
              <a:t>2.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724912"/>
            <a:ext cx="3703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texte • audio • vidéo • santé • communication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3703320"/>
            <a:ext cx="5394960" cy="86868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867911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8FA697"/>
                </a:solidFill>
                <a:latin typeface="Aptos"/>
              </a:defRPr>
            </a:pPr>
            <a:r>
              <a:t>3. Modèle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867911"/>
            <a:ext cx="3703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prépare les premières briques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4846320"/>
            <a:ext cx="5394960" cy="86868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5010912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8FA697"/>
                </a:solidFill>
                <a:latin typeface="Aptos"/>
              </a:defRPr>
            </a:pPr>
            <a:r>
              <a:t>4. Atelier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5010912"/>
            <a:ext cx="3703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travail immédiat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603504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Le canevas entièrement vide reste possible pour l’expert.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Exemples de portes d’entrée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Le dashboard guide par intention : information, communication, calendrier, projet.</a:t>
            </a:r>
          </a:p>
        </p:txBody>
      </p:sp>
      <p:pic>
        <p:nvPicPr>
          <p:cNvPr id="4" name="Picture 3" descr="news 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02" y="1280160"/>
            <a:ext cx="2018794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064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EFEA"/>
                </a:solidFill>
                <a:latin typeface="Aptos"/>
              </a:defRPr>
            </a:pPr>
            <a:r>
              <a:t>News</a:t>
            </a:r>
          </a:p>
        </p:txBody>
      </p:sp>
      <p:pic>
        <p:nvPicPr>
          <p:cNvPr id="6" name="Picture 5" descr="communication 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802" y="1280160"/>
            <a:ext cx="2018794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58064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EFEA"/>
                </a:solidFill>
                <a:latin typeface="Aptos"/>
              </a:defRPr>
            </a:pPr>
            <a:r>
              <a:t>Communication</a:t>
            </a:r>
          </a:p>
        </p:txBody>
      </p:sp>
      <p:pic>
        <p:nvPicPr>
          <p:cNvPr id="8" name="Picture 7" descr="agenda 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002" y="1280160"/>
            <a:ext cx="2018794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75320" y="58064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EFEA"/>
                </a:solidFill>
                <a:latin typeface="Aptos"/>
              </a:defRPr>
            </a:pPr>
            <a:r>
              <a:t>Agenda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Règles validées pour l’implémentation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Ce document décrit le comportement de référence, pas les timings définitifs.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399032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Dashboard = foyer et première expérience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13432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Flower = intention, invoqué par appui long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227832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Assistant/Guide = coin bas côté pouce, persistant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142232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Sans IA : recherche + aide + actions locales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7492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5056632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Hors atelier : interface quasi invisible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399032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Atelier : L stable, bas fixe + côté contextuel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33172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313432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Drag : disparition temporaire du système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24612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3227832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Vue / Travail / Profil = axes indépendants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16052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4142232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Droitier / gaucher = miroir cohérent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507492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5056632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Positions stables ; pas de palettes flottantes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722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4A6A6"/>
                </a:solidFill>
                <a:latin typeface="Aptos"/>
              </a:defRPr>
            </a:pPr>
            <a:r>
              <a:t>À affiner ensuite : timings, seuils gestuels, iconographie exacte, densité et transitions.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Taxonomie Atom — noyau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Le Flower exprime des intentions, jamais une arborescence d’applications.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13832" y="2953512"/>
            <a:ext cx="1133856" cy="1133856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1EFEA"/>
                </a:solidFill>
                <a:latin typeface="Aptos"/>
              </a:defRPr>
            </a:pPr>
            <a:r>
              <a:t>ATOM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0952" y="1024128"/>
            <a:ext cx="1499616" cy="694944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eVe /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0952" y="5321808"/>
            <a:ext cx="1499616" cy="694944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62072" y="2487168"/>
            <a:ext cx="1499616" cy="694944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Créer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9832" y="2487168"/>
            <a:ext cx="1499616" cy="694944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Capturer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3950208"/>
            <a:ext cx="1499616" cy="694944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Trouver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99832" y="3950208"/>
            <a:ext cx="1499616" cy="694944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Communiquer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4A6A6"/>
                </a:solidFill>
                <a:latin typeface="Aptos"/>
              </a:defRPr>
            </a:pPr>
            <a:r>
              <a:t>Pas de « Organiser », « Éditer », « Lire » ou « Performer » dans le Flower : ce sont d’autres dimensions.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Ce que la taxonomie refuse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Ne pas recréer un OS classique à l’intérieur d’Atom.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291840" cy="361188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09E89"/>
                </a:solidFill>
                <a:latin typeface="Aptos"/>
              </a:defRPr>
            </a:pPr>
            <a:r>
              <a:t>PAS « ORGANISER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651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F1EFEA"/>
                </a:solidFill>
                <a:latin typeface="Aptos"/>
              </a:defRPr>
            </a:pPr>
            <a:r>
              <a:t>La structure Atom est dynamique : atomes, molécules, relations, vues et temps se recomposent.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00200"/>
            <a:ext cx="3291840" cy="361188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96596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FA697"/>
                </a:solidFill>
                <a:latin typeface="Aptos"/>
              </a:defRPr>
            </a:pPr>
            <a:r>
              <a:t>PAS « ÉDITER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743200"/>
            <a:ext cx="2651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F1EFEA"/>
                </a:solidFill>
                <a:latin typeface="Aptos"/>
              </a:defRPr>
            </a:pPr>
            <a:r>
              <a:t>Édition est un mode de Travail, pas une destination fonctionnelle.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600200"/>
            <a:ext cx="3291840" cy="361188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96596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7FA4A5"/>
                </a:solidFill>
                <a:latin typeface="Aptos"/>
              </a:defRPr>
            </a:pPr>
            <a:r>
              <a:t>PAS « PERFORMER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2651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F1EFEA"/>
                </a:solidFill>
                <a:latin typeface="Aptos"/>
              </a:defRPr>
            </a:pPr>
            <a:r>
              <a:t>Performance est aussi un mode de Travail.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607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EFEA"/>
                </a:solidFill>
                <a:latin typeface="Aptos"/>
              </a:defRPr>
            </a:pPr>
            <a:r>
              <a:t>Principe : classer par intention humaine, pas par héritage logiciel.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Où vivent les fonctions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Chaque couche répond à une question différente.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828800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FLOWER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39903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1EFEA"/>
                </a:solidFill>
                <a:latin typeface="Aptos"/>
              </a:defRPr>
            </a:pPr>
            <a:r>
              <a:t>Qu’est-ce que je veux faire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9903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4A6A6"/>
                </a:solidFill>
                <a:latin typeface="Aptos"/>
              </a:defRPr>
            </a:pPr>
            <a:r>
              <a:t>Créer • Capturer • Communiquer • Trouver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58568"/>
            <a:ext cx="1828800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TRAVAIL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33172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1EFEA"/>
                </a:solidFill>
                <a:latin typeface="Aptos"/>
              </a:defRPr>
            </a:pPr>
            <a:r>
              <a:t>Dans quelle relation au projet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4A6A6"/>
                </a:solidFill>
                <a:latin typeface="Aptos"/>
              </a:defRPr>
            </a:pPr>
            <a:r>
              <a:t>Consultation • Édition •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91256"/>
            <a:ext cx="1828800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VUE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26440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1EFEA"/>
                </a:solidFill>
                <a:latin typeface="Aptos"/>
              </a:defRPr>
            </a:pPr>
            <a:r>
              <a:t>Comment je regarde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64408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4A6A6"/>
                </a:solidFill>
                <a:latin typeface="Aptos"/>
              </a:defRPr>
            </a:pPr>
            <a:r>
              <a:t>Naturel • Liste • Matrice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23944"/>
            <a:ext cx="1828800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ATELIER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19709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1EFEA"/>
                </a:solidFill>
                <a:latin typeface="Aptos"/>
              </a:defRPr>
            </a:pPr>
            <a:r>
              <a:t>Avec quels outils j’agis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9709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4A6A6"/>
                </a:solidFill>
                <a:latin typeface="Aptos"/>
              </a:defRPr>
            </a:pPr>
            <a:r>
              <a:t>Barre basse stable + contexte latéral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56632"/>
            <a:ext cx="1828800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PROFIL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129784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1EFEA"/>
                </a:solidFill>
                <a:latin typeface="Aptos"/>
              </a:defRPr>
            </a:pPr>
            <a:r>
              <a:t>Dans quel contexte suis-je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29784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4A6A6"/>
                </a:solidFill>
                <a:latin typeface="Aptos"/>
              </a:defRPr>
            </a:pPr>
            <a:r>
              <a:t>Privé • Pro • Musicien • 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Profil = contexte + maîtrise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La maîtrise appartient au profil et évolue dans le temps.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834640" cy="448056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1EFEA"/>
                </a:solidFill>
                <a:latin typeface="Aptos"/>
              </a:defRPr>
            </a:pPr>
            <a:r>
              <a:t>PROFIL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1554480"/>
            <a:ext cx="2834640" cy="96012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1EFEA"/>
                </a:solidFill>
                <a:latin typeface="Aptos"/>
              </a:defRPr>
            </a:pPr>
            <a:r>
              <a:t>Privé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903720" y="2029967"/>
            <a:ext cx="64008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26679" y="1554480"/>
            <a:ext cx="3154680" cy="96012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1EFEA"/>
                </a:solidFill>
                <a:latin typeface="Aptos"/>
              </a:defRPr>
            </a:pPr>
            <a:r>
              <a:t>Guidé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2971800"/>
            <a:ext cx="2834640" cy="96012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1EFEA"/>
                </a:solidFill>
                <a:latin typeface="Aptos"/>
              </a:defRPr>
            </a:pPr>
            <a:r>
              <a:t>Pro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03720" y="3447288"/>
            <a:ext cx="64008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26679" y="2971800"/>
            <a:ext cx="3154680" cy="96012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1EFEA"/>
                </a:solidFill>
                <a:latin typeface="Aptos"/>
              </a:defRPr>
            </a:pPr>
            <a:r>
              <a:t>Standard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389120"/>
            <a:ext cx="2834640" cy="96012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1EFEA"/>
                </a:solidFill>
                <a:latin typeface="Aptos"/>
              </a:defRPr>
            </a:pPr>
            <a:r>
              <a:t>Musicien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20" y="4864608"/>
            <a:ext cx="64008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26679" y="4389120"/>
            <a:ext cx="3154680" cy="96012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1EFEA"/>
                </a:solidFill>
                <a:latin typeface="Aptos"/>
              </a:defRPr>
            </a:pPr>
            <a:r>
              <a:t>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589788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A4A6A6"/>
                </a:solidFill>
                <a:latin typeface="Aptos"/>
              </a:defRPr>
            </a:pPr>
            <a:r>
              <a:t>Le même utilisateur peut avoir un niveau différent dans chaque profil.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Maîtrise progressive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Le niveau peut évoluer sans déplacer les concepts fondamentaux.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46120" cy="306324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8FA697"/>
                </a:solidFill>
                <a:latin typeface="Aptos"/>
              </a:defRPr>
            </a:pPr>
            <a:r>
              <a:t>GUIDÉ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2788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F1EFEA"/>
                </a:solidFill>
                <a:latin typeface="Aptos"/>
              </a:defRPr>
            </a:pPr>
            <a:r>
              <a:t>plus d’explications</a:t>
            </a:r>
            <a:br/>
            <a:r>
              <a:t>raccourcis essentiels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3154680"/>
            <a:ext cx="320040" cy="0"/>
          </a:xfrm>
          <a:prstGeom prst="line">
            <a:avLst/>
          </a:prstGeom>
          <a:ln w="25400">
            <a:solidFill>
              <a:srgbClr val="8FA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645920"/>
            <a:ext cx="3246120" cy="306324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7FA4A5"/>
                </a:solidFill>
                <a:latin typeface="Aptos"/>
              </a:defRPr>
            </a:pPr>
            <a:r>
              <a:t>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743200"/>
            <a:ext cx="2788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F1EFEA"/>
                </a:solidFill>
                <a:latin typeface="Aptos"/>
              </a:defRPr>
            </a:pPr>
            <a:r>
              <a:t>densité équilibrée</a:t>
            </a:r>
            <a:br/>
            <a:r>
              <a:t>moins d’assistance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80" y="3154680"/>
            <a:ext cx="32004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1645920"/>
            <a:ext cx="3246120" cy="306324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01168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D09E89"/>
                </a:solidFill>
                <a:latin typeface="Aptos"/>
              </a:defRPr>
            </a:pPr>
            <a:r>
              <a:t>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743200"/>
            <a:ext cx="2788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F1EFEA"/>
                </a:solidFill>
                <a:latin typeface="Aptos"/>
              </a:defRPr>
            </a:pPr>
            <a:r>
              <a:t>accès directs</a:t>
            </a:r>
            <a:br/>
            <a:r>
              <a:t>gestes + raccourcis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A4A6A6"/>
                </a:solidFill>
                <a:latin typeface="Aptos"/>
              </a:defRPr>
            </a:pPr>
            <a:r>
              <a:t>Atom peut proposer un passage de niveau à mesure que l’utilisateur apprend, mais le changement reste explicite et réversible.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Réglages : toujours retrouvables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Les réglages ne sont pas une pétale du Flower : ils appartiennent à l’identité / profil.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926080" cy="448056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1EFEA"/>
                </a:solidFill>
                <a:latin typeface="Aptos"/>
              </a:defRPr>
            </a:pPr>
            <a:r>
              <a:t>IDENTITÉ</a:t>
            </a:r>
            <a:br/>
            <a:r>
              <a:t>/</a:t>
            </a:r>
            <a:br/>
            <a:r>
              <a:t>PROFIL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417320"/>
            <a:ext cx="3063240" cy="74980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Profil actif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496312"/>
            <a:ext cx="3063240" cy="74980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Maîtrise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3575304"/>
            <a:ext cx="3063240" cy="74980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Droitier / gaucher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4654296"/>
            <a:ext cx="3063240" cy="74980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Interface &amp; accessibilité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417320"/>
            <a:ext cx="3063240" cy="749808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Audio / vidéo / périphériques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496312"/>
            <a:ext cx="3063240" cy="749808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Comptes &amp; connexions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575304"/>
            <a:ext cx="3063240" cy="749808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Confidentialité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654296"/>
            <a:ext cx="3063240" cy="749808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Réglages avancés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897880"/>
            <a:ext cx="6629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4A6A6"/>
                </a:solidFill>
                <a:latin typeface="Aptos"/>
              </a:defRPr>
            </a:pPr>
            <a:r>
              <a:t>But : une porte système stable, connue, jamais mélangée aux intentions de création.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Atelier : action en bas, précision sur le côté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La taxonomie globale ne doit pas envahir les outils de travail.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7406640" cy="475488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5212080"/>
            <a:ext cx="672084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1EFEA"/>
                </a:solidFill>
                <a:latin typeface="Aptos"/>
              </a:defRPr>
            </a:pPr>
            <a:r>
              <a:t>CE QUE JE FAIS — outils fréquents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737360"/>
            <a:ext cx="594360" cy="315468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1EFEA"/>
                </a:solidFill>
                <a:latin typeface="Aptos"/>
              </a:defRPr>
            </a:pPr>
            <a:r>
              <a:t>C</a:t>
            </a:r>
            <a:br/>
            <a:r>
              <a:t>O</a:t>
            </a:r>
            <a:br/>
            <a:r>
              <a:t>M</a:t>
            </a:r>
            <a:br/>
            <a:r>
              <a:t>M</a:t>
            </a:r>
            <a:br/>
            <a:r>
              <a:t>E</a:t>
            </a:r>
            <a:br/>
            <a:r>
              <a:t>N</a:t>
            </a:r>
            <a:br/>
            <a: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5087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8FA697"/>
                </a:solidFill>
                <a:latin typeface="Aptos"/>
              </a:defRPr>
            </a:pPr>
            <a:r>
              <a:t>Exemple dessin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2971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Bas : Sélection • Dessin • Forme • Texte • Historique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38328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D09E89"/>
                </a:solidFill>
                <a:latin typeface="Aptos"/>
              </a:defRPr>
            </a:pPr>
            <a:r>
              <a:t>Contexte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840480"/>
            <a:ext cx="2971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4A6A6"/>
                </a:solidFill>
                <a:latin typeface="Aptos"/>
              </a:defRPr>
            </a:pPr>
            <a:r>
              <a:t>Côté : couleur • épaisseur • opacité • propriétés de la cible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Extensibilité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Un nouvel outil doit s’insérer sans créer une nouvelle catégorie principale.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429768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Générateur 3D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212080" y="1609344"/>
            <a:ext cx="59436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89320" y="1325880"/>
            <a:ext cx="534924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Créer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429768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Caméra spatiale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12080" y="2386584"/>
            <a:ext cx="59436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89320" y="2103120"/>
            <a:ext cx="534924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Capturer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80360"/>
            <a:ext cx="429768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Nouveau réseau social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12080" y="3163824"/>
            <a:ext cx="59436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9320" y="2880360"/>
            <a:ext cx="534924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Communiquer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57600"/>
            <a:ext cx="429768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Recherche sémantique locale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12080" y="3941063"/>
            <a:ext cx="59436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89320" y="3657600"/>
            <a:ext cx="534924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Trouver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4840"/>
            <a:ext cx="429768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Nouveau effet audio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12080" y="4718303"/>
            <a:ext cx="59436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89320" y="4434840"/>
            <a:ext cx="534924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Atelier / contexte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12080"/>
            <a:ext cx="429768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Nouveau mode scène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12080" y="5495544"/>
            <a:ext cx="594360" cy="0"/>
          </a:xfrm>
          <a:prstGeom prst="line">
            <a:avLst/>
          </a:prstGeom>
          <a:ln w="25400">
            <a:solidFill>
              <a:srgbClr val="7F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89320" y="5212080"/>
            <a:ext cx="5349240" cy="566928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1EFEA"/>
                </a:solidFill>
                <a:latin typeface="Aptos"/>
              </a:defRPr>
            </a:pPr>
            <a:r>
              <a:t>Travail /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1722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4A6A6"/>
                </a:solidFill>
                <a:latin typeface="Aptos"/>
              </a:defRPr>
            </a:pPr>
            <a:r>
              <a:t>Test de robustesse : la taxonomie doit accueillir les outils futurs sans s’élargir horizontalement.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Modèle de référence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Version à challenger avant implémentation.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8FA697"/>
                </a:solidFill>
                <a:latin typeface="Aptos"/>
              </a:defRPr>
            </a:pPr>
            <a:r>
              <a:t>Flower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32588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Créer • Capturer • Communiquer • Trouver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7FA4A5"/>
                </a:solidFill>
                <a:latin typeface="Aptos"/>
              </a:defRPr>
            </a:pPr>
            <a:r>
              <a:t>Pôles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947672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eVe / Guide ↑   •   Dashboard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9464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8FA697"/>
                </a:solidFill>
                <a:latin typeface="Aptos"/>
              </a:defRPr>
            </a:pPr>
            <a:r>
              <a:t>Travail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69464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Consultation • Édition •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91256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7FA4A5"/>
                </a:solidFill>
                <a:latin typeface="Aptos"/>
              </a:defRPr>
            </a:pPr>
            <a:r>
              <a:t>Vue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191256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Naturel • Liste • Matrice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304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8FA697"/>
                </a:solidFill>
                <a:latin typeface="Aptos"/>
              </a:defRPr>
            </a:pPr>
            <a:r>
              <a:t>Profil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813048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Contexte + maîtrise propre au profil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7FA4A5"/>
                </a:solidFill>
                <a:latin typeface="Aptos"/>
              </a:defRPr>
            </a:pPr>
            <a:r>
              <a:t>Atelier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4348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outils stables en bas + précision contextuelle latérale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5663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8FA697"/>
                </a:solidFill>
                <a:latin typeface="Aptos"/>
              </a:defRPr>
            </a:pPr>
            <a:r>
              <a:t>Réglages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056632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porte stable depuis identité / profil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78424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7FA4A5"/>
                </a:solidFill>
                <a:latin typeface="Aptos"/>
              </a:defRPr>
            </a:pPr>
            <a:r>
              <a:t>Principe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678424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1EFEA"/>
                </a:solidFill>
                <a:latin typeface="Aptos"/>
              </a:defRPr>
            </a:pPr>
            <a:r>
              <a:t>moins de surfaces visibles, plus de constance spatiale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550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A4A6A6"/>
                </a:solidFill>
                <a:latin typeface="Aptos"/>
              </a:defRPr>
            </a:pPr>
            <a:r>
              <a:t>À réduire et challenger ensuite : noms exacts, nombre de pétales, densité par niveau, raccourcis persistants.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Menus — limites et ancrage au pouce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Règles structurelles à respecter sur mobile, tablette et desktop.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1417320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FA697"/>
                </a:solidFill>
                <a:latin typeface="Aptos"/>
              </a:defRPr>
            </a:pPr>
            <a:r>
              <a:t>Main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1EFEA"/>
                </a:solidFill>
                <a:latin typeface="Aptos"/>
              </a:defRPr>
            </a:pPr>
            <a:r>
              <a:t>7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A4A6A6"/>
                </a:solidFill>
                <a:latin typeface="Aptos"/>
              </a:defRPr>
            </a:pPr>
            <a:r>
              <a:t>Navigation principale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1417320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FA4A5"/>
                </a:solidFill>
                <a:latin typeface="Aptos"/>
              </a:defRPr>
            </a:pPr>
            <a:r>
              <a:t>Menu contextuel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1EFEA"/>
                </a:solidFill>
                <a:latin typeface="Aptos"/>
              </a:defRPr>
            </a:pPr>
            <a:r>
              <a:t>12 items 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71800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A4A6A6"/>
                </a:solidFill>
                <a:latin typeface="Aptos"/>
              </a:defRPr>
            </a:pPr>
            <a:r>
              <a:t>Outils liés au contexte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246120" cy="1417320"/>
          </a:xfrm>
          <a:prstGeom prst="roundRect">
            <a:avLst/>
          </a:prstGeom>
          <a:solidFill>
            <a:srgbClr val="222426"/>
          </a:solidFill>
          <a:ln>
            <a:solidFill>
              <a:srgbClr val="D0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9164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09E89"/>
                </a:solidFill>
                <a:latin typeface="Aptos"/>
              </a:defRPr>
            </a:pPr>
            <a:r>
              <a:t>Menu Flower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4884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1EFEA"/>
                </a:solidFill>
                <a:latin typeface="Aptos"/>
              </a:defRPr>
            </a:pPr>
            <a:r>
              <a:t>8 items 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971800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A4A6A6"/>
                </a:solidFill>
                <a:latin typeface="Aptos"/>
              </a:defRPr>
            </a:pPr>
            <a:r>
              <a:t>Intentions / accès rapides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8FA697"/>
                </a:solidFill>
                <a:latin typeface="Aptos"/>
              </a:defRPr>
            </a:pPr>
            <a:r>
              <a:t>Droitier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5074920" cy="141732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4069080"/>
            <a:ext cx="182880" cy="1417320"/>
          </a:xfrm>
          <a:prstGeom prst="rect">
            <a:avLst/>
          </a:prstGeom>
          <a:solidFill>
            <a:srgbClr val="7F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00600" y="4370832"/>
            <a:ext cx="658368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59352" y="4370832"/>
            <a:ext cx="658368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18104" y="4370832"/>
            <a:ext cx="658368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276856" y="4370832"/>
            <a:ext cx="658368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23560"/>
            <a:ext cx="4709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L’item le plus proche du pouce est calé au bord droit et reste toujours entièrement visible.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57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7FA4A5"/>
                </a:solidFill>
                <a:latin typeface="Aptos"/>
              </a:defRPr>
            </a:pPr>
            <a:r>
              <a:t>Gaucher — miroir exact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069080"/>
            <a:ext cx="5074920" cy="1417320"/>
          </a:xfrm>
          <a:prstGeom prst="roundRect">
            <a:avLst/>
          </a:prstGeom>
          <a:solidFill>
            <a:srgbClr val="1B1C1E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069080"/>
            <a:ext cx="182880" cy="1417320"/>
          </a:xfrm>
          <a:prstGeom prst="rect">
            <a:avLst/>
          </a:prstGeom>
          <a:solidFill>
            <a:srgbClr val="7F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56832" y="4370832"/>
            <a:ext cx="658368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0" y="4370832"/>
            <a:ext cx="658368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9328" y="4370832"/>
            <a:ext cx="658368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80576" y="4370832"/>
            <a:ext cx="658368" cy="658368"/>
          </a:xfrm>
          <a:prstGeom prst="roundRect">
            <a:avLst/>
          </a:prstGeom>
          <a:solidFill>
            <a:srgbClr val="222426"/>
          </a:solidFill>
          <a:ln>
            <a:solidFill>
              <a:srgbClr val="4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623560"/>
            <a:ext cx="4709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Même règle au bord gauche. Aucun item ne peut être à cheval sur le bord ou partiellement coupé.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1EFEA"/>
                </a:solidFill>
                <a:latin typeface="Aptos"/>
              </a:defRPr>
            </a:pPr>
            <a:r>
              <a:t>Règle d’alignement des menus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A6A6"/>
                </a:solidFill>
                <a:latin typeface="Aptos"/>
              </a:defRPr>
            </a:pPr>
            <a:r>
              <a:t>La géométrie s’adapte à la main dominante ; elle ne dépend pas du contenu.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353312"/>
            <a:ext cx="4800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1EFEA"/>
                </a:solidFill>
                <a:latin typeface="Aptos"/>
              </a:defRPr>
            </a:pPr>
            <a:r>
              <a:t>Main menu : 7 items.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267712"/>
            <a:ext cx="4800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1EFEA"/>
                </a:solidFill>
                <a:latin typeface="Aptos"/>
              </a:defRPr>
            </a:pPr>
            <a:r>
              <a:t>Menu contextuel : 12 items maximum.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82112"/>
            <a:ext cx="4800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1EFEA"/>
                </a:solidFill>
                <a:latin typeface="Aptos"/>
              </a:defRPr>
            </a:pPr>
            <a:r>
              <a:t>Menu Flower : 8 items maximum.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096512"/>
            <a:ext cx="4800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1EFEA"/>
                </a:solidFill>
                <a:latin typeface="Aptos"/>
              </a:defRPr>
            </a:pPr>
            <a:r>
              <a:t>Tous les menus s’alignent sur le bord correspondant à la main dominante.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8FA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5010912"/>
            <a:ext cx="4800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1EFEA"/>
                </a:solidFill>
                <a:latin typeface="Aptos"/>
              </a:defRPr>
            </a:pPr>
            <a:r>
              <a:t>Droitier : ancrage côté droit. Gaucher : miroir côté gauche.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37160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353312"/>
            <a:ext cx="4800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1EFEA"/>
                </a:solidFill>
                <a:latin typeface="Aptos"/>
              </a:defRPr>
            </a:pPr>
            <a:r>
              <a:t>L’item le plus proche du pouce est toujours affiché intégralement.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28600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267712"/>
            <a:ext cx="4800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1EFEA"/>
                </a:solidFill>
                <a:latin typeface="Aptos"/>
              </a:defRPr>
            </a:pPr>
            <a:r>
              <a:t>Aucun outil ou pictogramme ne doit être coupé, masqué ou placé à cheval sur un bord.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20040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3182112"/>
            <a:ext cx="4800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1EFEA"/>
                </a:solidFill>
                <a:latin typeface="Aptos"/>
              </a:defRPr>
            </a:pPr>
            <a:r>
              <a:t>Le menu contextuel applique exactement la même règle d’ancrage.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11480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4096512"/>
            <a:ext cx="4800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1EFEA"/>
                </a:solidFill>
                <a:latin typeface="Aptos"/>
              </a:defRPr>
            </a:pPr>
            <a:r>
              <a:t>Si l’espace manque, la disposition se réorganise avant de réduire ou couper un item.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5029200"/>
            <a:ext cx="384048" cy="384048"/>
          </a:xfrm>
          <a:prstGeom prst="roundRect">
            <a:avLst/>
          </a:prstGeom>
          <a:solidFill>
            <a:srgbClr val="222426"/>
          </a:solidFill>
          <a:ln>
            <a:solidFill>
              <a:srgbClr val="7F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EFE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5010912"/>
            <a:ext cx="4800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1EFEA"/>
                </a:solidFill>
                <a:latin typeface="Aptos"/>
              </a:defRPr>
            </a:pPr>
            <a:r>
              <a:t>La position de référence reste stable afin de préserver la mémoire spatiale.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